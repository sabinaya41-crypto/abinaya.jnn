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8" d="100"/>
          <a:sy n="98" d="100"/>
        </p:scale>
        <p:origin x="82" y="1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509760" y="-1280160"/>
            <a:ext cx="4937760" cy="4937760"/>
          </a:xfrm>
          <a:prstGeom prst="ellipse">
            <a:avLst/>
          </a:prstGeom>
          <a:solidFill>
            <a:srgbClr val="7C5C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972800" y="4206240"/>
            <a:ext cx="4206240" cy="4206240"/>
          </a:xfrm>
          <a:prstGeom prst="ellipse">
            <a:avLst/>
          </a:prstGeom>
          <a:solidFill>
            <a:srgbClr val="22D3EE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1188720" y="4754880"/>
            <a:ext cx="3840480" cy="3840480"/>
          </a:xfrm>
          <a:prstGeom prst="ellipse">
            <a:avLst/>
          </a:prstGeom>
          <a:solidFill>
            <a:srgbClr val="A86BFF">
              <a:alpha val="1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024128"/>
            <a:ext cx="8229600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1" i="0" dirty="0">
                <a:solidFill>
                  <a:srgbClr val="22D3EE"/>
                </a:solidFill>
                <a:latin typeface="Calibri"/>
              </a:rPr>
              <a:t>COLLEGE PROJECT  •  B</a:t>
            </a:r>
            <a:r>
              <a:rPr lang="en-IN" sz="1250" b="1" dirty="0">
                <a:solidFill>
                  <a:srgbClr val="22D3EE"/>
                </a:solidFill>
                <a:latin typeface="Calibri"/>
              </a:rPr>
              <a:t>.SC  AI</a:t>
            </a:r>
            <a:endParaRPr sz="1250" b="1" i="0" dirty="0">
              <a:solidFill>
                <a:srgbClr val="22D3EE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1481328"/>
            <a:ext cx="104241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6200" b="1" i="0">
                <a:solidFill>
                  <a:srgbClr val="FFFFFF"/>
                </a:solidFill>
                <a:latin typeface="Calibri"/>
              </a:rPr>
              <a:t>EduGenie</a:t>
            </a:r>
            <a:r>
              <a:rPr sz="4000" b="1" i="0">
                <a:solidFill>
                  <a:srgbClr val="A86BFF"/>
                </a:solidFill>
                <a:latin typeface="Calibri"/>
              </a:rPr>
              <a:t>  – AI-Powered</a:t>
            </a:r>
          </a:p>
          <a:p>
            <a:pPr>
              <a:spcBef>
                <a:spcPts val="200"/>
              </a:spcBef>
            </a:pPr>
            <a:r>
              <a:rPr sz="4000" b="1" i="0">
                <a:solidFill>
                  <a:srgbClr val="A86BFF"/>
                </a:solidFill>
                <a:latin typeface="Calibri"/>
              </a:rPr>
              <a:t>Educational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27248"/>
            <a:ext cx="87782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2000" b="0" i="0">
                <a:solidFill>
                  <a:srgbClr val="CBD5F2"/>
                </a:solidFill>
                <a:latin typeface="Calibri"/>
              </a:rPr>
              <a:t>An Intelligent Web-Based Learning Support 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703320"/>
            <a:ext cx="4754880" cy="411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4400" y="4041648"/>
            <a:ext cx="1133856" cy="475488"/>
          </a:xfrm>
          <a:prstGeom prst="roundRect">
            <a:avLst>
              <a:gd name="adj" fmla="val 28000"/>
            </a:avLst>
          </a:prstGeom>
          <a:solidFill>
            <a:srgbClr val="161E47"/>
          </a:solidFill>
          <a:ln w="1397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Python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12848" y="4041648"/>
            <a:ext cx="1239012" cy="475488"/>
          </a:xfrm>
          <a:prstGeom prst="roundRect">
            <a:avLst>
              <a:gd name="adj" fmla="val 28000"/>
            </a:avLst>
          </a:prstGeom>
          <a:solidFill>
            <a:srgbClr val="161E47"/>
          </a:solidFill>
          <a:ln w="1397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FastAPI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6452" y="4041648"/>
            <a:ext cx="923544" cy="475488"/>
          </a:xfrm>
          <a:prstGeom prst="roundRect">
            <a:avLst>
              <a:gd name="adj" fmla="val 28000"/>
            </a:avLst>
          </a:prstGeom>
          <a:solidFill>
            <a:srgbClr val="161E47"/>
          </a:solidFill>
          <a:ln w="1397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HTML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4588" y="4041648"/>
            <a:ext cx="818388" cy="475488"/>
          </a:xfrm>
          <a:prstGeom prst="roundRect">
            <a:avLst>
              <a:gd name="adj" fmla="val 28000"/>
            </a:avLst>
          </a:prstGeom>
          <a:solidFill>
            <a:srgbClr val="161E47"/>
          </a:solidFill>
          <a:ln w="1397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87568" y="4041648"/>
            <a:ext cx="1554480" cy="475488"/>
          </a:xfrm>
          <a:prstGeom prst="roundRect">
            <a:avLst>
              <a:gd name="adj" fmla="val 28000"/>
            </a:avLst>
          </a:prstGeom>
          <a:solidFill>
            <a:srgbClr val="161E47"/>
          </a:solidFill>
          <a:ln w="1397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Gemini 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4041648"/>
            <a:ext cx="1975104" cy="475488"/>
          </a:xfrm>
          <a:prstGeom prst="roundRect">
            <a:avLst>
              <a:gd name="adj" fmla="val 28000"/>
            </a:avLst>
          </a:prstGeom>
          <a:solidFill>
            <a:srgbClr val="161E47"/>
          </a:solidFill>
          <a:ln w="1397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LaMini-Flan-T5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892040"/>
            <a:ext cx="5120640" cy="96012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ctr"/>
            <a:r>
              <a:rPr lang="en-IN" sz="1300" b="1" i="0" dirty="0">
                <a:solidFill>
                  <a:srgbClr val="FFFFFF"/>
                </a:solidFill>
                <a:latin typeface="Calibri"/>
              </a:rPr>
              <a:t>DEPT OF ARTIFICIAL INTELLIGENCE </a:t>
            </a:r>
            <a:endParaRPr sz="1300" b="1" i="0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7C5CFF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Introduction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234440" cy="5029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481328"/>
            <a:ext cx="9509760" cy="10972"/>
          </a:xfrm>
          <a:prstGeom prst="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8E9AC8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69037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FFFFFF"/>
                </a:solidFill>
                <a:latin typeface="Calibri"/>
              </a:rPr>
              <a:t>What it is –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EduGenie is an AI-powered web assistant that gives students instant, personalized help with their studies, any time of day.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FFFFFF"/>
                </a:solidFill>
                <a:latin typeface="Calibri"/>
              </a:rPr>
              <a:t>How it is built –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a FastAPI backend serves a clean HTML/CSS front end, so it runs in any browser with no installation.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FFFFFF"/>
                </a:solidFill>
                <a:latin typeface="Calibri"/>
              </a:rPr>
              <a:t>Dual AI engine –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Google Gemini API drives high-quality reasoning, while the light LaMini-Flan-T5 model keeps the tutor working even offline.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FFFFFF"/>
                </a:solidFill>
                <a:latin typeface="Calibri"/>
              </a:rPr>
              <a:t>What it does –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solves doubts, explains concepts, summarizes notes and generates practice quizzes with instant feedback.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650" b="1" i="0">
                <a:solidFill>
                  <a:srgbClr val="FFFFFF"/>
                </a:solidFill>
                <a:latin typeface="Calibri"/>
              </a:rPr>
              <a:t>Why it matters –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it lowers the cost of personalized tutoring and makes quality learning support accessible on ordinary devices.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7830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74320" rIns="256032" rtlCol="0" anchor="t"/>
          <a:lstStyle/>
          <a:p>
            <a:pPr algn="ctr">
              <a:spcAft>
                <a:spcPts val="16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AT A GLANCE</a:t>
            </a:r>
          </a:p>
          <a:p>
            <a:pPr>
              <a:spcAft>
                <a:spcPts val="1600"/>
              </a:spcAft>
            </a:pPr>
            <a:r>
              <a:rPr sz="2400" b="1" i="0">
                <a:solidFill>
                  <a:srgbClr val="4AE3C1"/>
                </a:solidFill>
                <a:latin typeface="Calibri"/>
              </a:rPr>
              <a:t>24 / 7   </a:t>
            </a:r>
            <a:r>
              <a:rPr sz="1250" b="0" i="0">
                <a:solidFill>
                  <a:srgbClr val="CBD5F2"/>
                </a:solidFill>
                <a:latin typeface="Calibri"/>
              </a:rPr>
              <a:t>always-on learning support</a:t>
            </a:r>
          </a:p>
          <a:p>
            <a:pPr>
              <a:spcAft>
                <a:spcPts val="1600"/>
              </a:spcAft>
            </a:pPr>
            <a:r>
              <a:rPr sz="2400" b="1" i="0">
                <a:solidFill>
                  <a:srgbClr val="A86BFF"/>
                </a:solidFill>
                <a:latin typeface="Calibri"/>
              </a:rPr>
              <a:t>2   </a:t>
            </a:r>
            <a:r>
              <a:rPr sz="1250" b="0" i="0">
                <a:solidFill>
                  <a:srgbClr val="CBD5F2"/>
                </a:solidFill>
                <a:latin typeface="Calibri"/>
              </a:rPr>
              <a:t>AI engines (cloud + local)</a:t>
            </a:r>
          </a:p>
          <a:p>
            <a:pPr>
              <a:spcAft>
                <a:spcPts val="1600"/>
              </a:spcAft>
            </a:pPr>
            <a:r>
              <a:rPr sz="2400" b="1" i="0">
                <a:solidFill>
                  <a:srgbClr val="22D3EE"/>
                </a:solidFill>
                <a:latin typeface="Calibri"/>
              </a:rPr>
              <a:t>6   </a:t>
            </a:r>
            <a:r>
              <a:rPr sz="1250" b="0" i="0">
                <a:solidFill>
                  <a:srgbClr val="CBD5F2"/>
                </a:solidFill>
                <a:latin typeface="Calibri"/>
              </a:rPr>
              <a:t>core learning modules</a:t>
            </a:r>
          </a:p>
          <a:p>
            <a:pPr>
              <a:spcAft>
                <a:spcPts val="1600"/>
              </a:spcAft>
            </a:pPr>
            <a:r>
              <a:rPr sz="2400" b="1" i="0">
                <a:solidFill>
                  <a:srgbClr val="7C5CFF"/>
                </a:solidFill>
                <a:latin typeface="Calibri"/>
              </a:rPr>
              <a:t>≈ 0   </a:t>
            </a:r>
            <a:r>
              <a:rPr sz="1250" b="0" i="0">
                <a:solidFill>
                  <a:srgbClr val="CBD5F2"/>
                </a:solidFill>
                <a:latin typeface="Calibri"/>
              </a:rPr>
              <a:t>installation for the learner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7C5CFF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234440" cy="5029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481328"/>
            <a:ext cx="9509760" cy="10972"/>
          </a:xfrm>
          <a:prstGeom prst="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8E9AC8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69037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Students get no immediate help once the classroom closes — doubts wait until the next lecture.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Large class sizes leave teachers with almost no time for one-to-one doubt solving.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Most e-learning platforms are content-heavy libraries, not conversational or adaptive tutors.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Commercial AI tutors are subscription-based and demand high-end devices and stable internet.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No single low-cost tool combines explanation, summarization, practice and feedback for self-study.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The result: learning gaps widen, confidence drops, and students disengage from self-paced study.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7830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320040" rIns="274320" rtlCol="0" anchor="t"/>
          <a:lstStyle/>
          <a:p>
            <a:pPr algn="ctr">
              <a:spcAft>
                <a:spcPts val="1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THE CORE GAP</a:t>
            </a:r>
          </a:p>
          <a:p>
            <a:pPr>
              <a:spcAft>
                <a:spcPts val="18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Quality, personalized tutoring is still a luxury — not a default — for most learners.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E86B8A"/>
                </a:solidFill>
                <a:latin typeface="Calibri"/>
              </a:rPr>
              <a:t>✕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Teacher time is finite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E86B8A"/>
                </a:solidFill>
                <a:latin typeface="Calibri"/>
              </a:rPr>
              <a:t>✕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Content is passive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E86B8A"/>
                </a:solidFill>
                <a:latin typeface="Calibri"/>
              </a:rPr>
              <a:t>✕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AI tools cost money</a:t>
            </a:r>
          </a:p>
          <a:p>
            <a:pPr>
              <a:spcAft>
                <a:spcPts val="1000"/>
              </a:spcAft>
            </a:pPr>
            <a:r>
              <a:rPr sz="1400" b="1" i="0">
                <a:solidFill>
                  <a:srgbClr val="E86B8A"/>
                </a:solidFill>
                <a:latin typeface="Calibri"/>
              </a:rPr>
              <a:t>✕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Devices are limited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7C5CFF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234440" cy="5029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481328"/>
            <a:ext cx="9509760" cy="10972"/>
          </a:xfrm>
          <a:prstGeom prst="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8E9AC8"/>
                </a:solidFill>
                <a:latin typeface="Calibri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69037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4AE3C1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Deliver instant, 24/7 AI answers to academic questions from any subject.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4AE3C1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Generate concise, exam-ready summaries and study notes on demand.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4AE3C1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Auto-create practice quizzes and provide instant scoring with feedback.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4AE3C1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Explain concepts in simple language adapted to the learner's level.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4AE3C1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Stay lightweight and low-cost, so it runs on modest hardware and slow networks.</a:t>
            </a:r>
          </a:p>
          <a:p>
            <a:pPr>
              <a:lnSpc>
                <a:spcPct val="106000"/>
              </a:lnSpc>
              <a:spcAft>
                <a:spcPts val="1200"/>
              </a:spcAft>
            </a:pPr>
            <a:r>
              <a:rPr sz="1650" b="1" i="0">
                <a:solidFill>
                  <a:srgbClr val="4AE3C1"/>
                </a:solidFill>
                <a:latin typeface="Calibri"/>
              </a:rPr>
              <a:t>▸  </a:t>
            </a:r>
            <a:r>
              <a:rPr sz="1650" b="0" i="0">
                <a:solidFill>
                  <a:srgbClr val="CBD5F2"/>
                </a:solidFill>
                <a:latin typeface="Calibri"/>
              </a:rPr>
              <a:t>Build a modular architecture that is easy to extend with new subjects and features.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783080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10727" y="2002536"/>
            <a:ext cx="521207" cy="521207"/>
          </a:xfrm>
          <a:prstGeom prst="ellipse">
            <a:avLst/>
          </a:prstGeom>
          <a:solidFill>
            <a:srgbClr val="1C2555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22D3EE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96528" y="1965960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Answer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Instant, always-available doubt solving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2862072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10727" y="3081528"/>
            <a:ext cx="521207" cy="521207"/>
          </a:xfrm>
          <a:prstGeom prst="ellipse">
            <a:avLst/>
          </a:prstGeom>
          <a:solidFill>
            <a:srgbClr val="1C2555"/>
          </a:solidFill>
          <a:ln w="15875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A86BFF"/>
                </a:solidFill>
                <a:latin typeface="Calibr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96528" y="3044952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Summarize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Short, exam-focused study notes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941063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10727" y="4160520"/>
            <a:ext cx="521207" cy="521207"/>
          </a:xfrm>
          <a:prstGeom prst="ellipse">
            <a:avLst/>
          </a:prstGeom>
          <a:solidFill>
            <a:srgbClr val="1C2555"/>
          </a:solidFill>
          <a:ln w="15875">
            <a:solidFill>
              <a:srgbClr val="4AE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4AE3C1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4123944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Assess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Auto quizzes with instant feedback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9560" y="5020055"/>
            <a:ext cx="3566160" cy="96012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110727" y="5239512"/>
            <a:ext cx="521207" cy="521207"/>
          </a:xfrm>
          <a:prstGeom prst="ellipse">
            <a:avLst/>
          </a:prstGeom>
          <a:solidFill>
            <a:srgbClr val="1C2555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00" b="1" i="0">
                <a:solidFill>
                  <a:srgbClr val="7C5CFF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96528" y="5202936"/>
            <a:ext cx="2514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Adapt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Level-aware concept explanations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7C5CFF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RELATED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Literature &amp; Existing Systems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234440" cy="5029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481328"/>
            <a:ext cx="9509760" cy="10972"/>
          </a:xfrm>
          <a:prstGeom prst="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8E9AC8"/>
                </a:solidFill>
                <a:latin typeface="Calibri"/>
              </a:rPr>
              <a:t>05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69037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7C5CFF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E-learning platforms / LMS — rich content and tracking, but little live interaction.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7C5CFF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Rule-based FAQ chatbots — quick answers, yet no reasoning on open-ended questions.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7C5CFF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Commercial AI tutors — strong quality, but paid and dependent on continuous cloud access.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7C5CFF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Heavy open LLMs — need GPUs and bandwidth, which excludes many learners.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7C5CFF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Compact instruction-tuned models (e.g. LaMini-Flan-T5) — good quality at very low cost.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7C5CFF"/>
                </a:solidFill>
                <a:latin typeface="Calibri"/>
              </a:rPr>
              <a:t>▸ 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Identified gap — no free, browser-based tutor that pairs cloud reasoning with a local fallback.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7830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92608" rIns="274320" rtlCol="0" anchor="t"/>
          <a:lstStyle/>
          <a:p>
            <a:pPr algn="ctr">
              <a:spcAft>
                <a:spcPts val="16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COMPARISON</a:t>
            </a:r>
          </a:p>
          <a:p>
            <a:pPr>
              <a:spcAft>
                <a:spcPts val="1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MOOCs &amp; LMS</a:t>
            </a:r>
          </a:p>
          <a:p>
            <a:pPr>
              <a:spcAft>
                <a:spcPts val="1300"/>
              </a:spcAft>
            </a:pPr>
            <a:r>
              <a:rPr sz="1150" b="0" i="0">
                <a:solidFill>
                  <a:srgbClr val="8E9AC8"/>
                </a:solidFill>
                <a:latin typeface="Calibri"/>
              </a:rPr>
              <a:t>     Content, no dialogue</a:t>
            </a:r>
          </a:p>
          <a:p>
            <a:pPr>
              <a:spcAft>
                <a:spcPts val="100"/>
              </a:spcAft>
            </a:pPr>
            <a:r>
              <a:rPr sz="1300" b="1" i="0">
                <a:solidFill>
                  <a:srgbClr val="A86BFF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FAQ Chatbots</a:t>
            </a:r>
          </a:p>
          <a:p>
            <a:pPr>
              <a:spcAft>
                <a:spcPts val="1300"/>
              </a:spcAft>
            </a:pPr>
            <a:r>
              <a:rPr sz="1150" b="0" i="0">
                <a:solidFill>
                  <a:srgbClr val="8E9AC8"/>
                </a:solidFill>
                <a:latin typeface="Calibri"/>
              </a:rPr>
              <a:t>     Rules, no reasoning</a:t>
            </a:r>
          </a:p>
          <a:p>
            <a:pPr>
              <a:spcAft>
                <a:spcPts val="100"/>
              </a:spcAft>
            </a:pPr>
            <a:r>
              <a:rPr sz="1300" b="1" i="0">
                <a:solidFill>
                  <a:srgbClr val="E86B8A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Paid AI Tutors</a:t>
            </a:r>
          </a:p>
          <a:p>
            <a:pPr>
              <a:spcAft>
                <a:spcPts val="1300"/>
              </a:spcAft>
            </a:pPr>
            <a:r>
              <a:rPr sz="1150" b="0" i="0">
                <a:solidFill>
                  <a:srgbClr val="8E9AC8"/>
                </a:solidFill>
                <a:latin typeface="Calibri"/>
              </a:rPr>
              <a:t>     Powerful, but costly</a:t>
            </a:r>
          </a:p>
          <a:p>
            <a:pPr>
              <a:spcAft>
                <a:spcPts val="100"/>
              </a:spcAft>
            </a:pPr>
            <a:r>
              <a:rPr sz="1300" b="1" i="0">
                <a:solidFill>
                  <a:srgbClr val="4AE3C1"/>
                </a:solidFill>
                <a:latin typeface="Calibri"/>
              </a:rPr>
              <a:t>●  </a:t>
            </a:r>
            <a:r>
              <a:rPr sz="1400" b="1" i="0">
                <a:solidFill>
                  <a:srgbClr val="FFFFFF"/>
                </a:solidFill>
                <a:latin typeface="Calibri"/>
              </a:rPr>
              <a:t>EduGenie</a:t>
            </a:r>
          </a:p>
          <a:p>
            <a:pPr>
              <a:spcAft>
                <a:spcPts val="1300"/>
              </a:spcAft>
            </a:pPr>
            <a:r>
              <a:rPr sz="1150" b="0" i="0">
                <a:solidFill>
                  <a:srgbClr val="8E9AC8"/>
                </a:solidFill>
                <a:latin typeface="Calibri"/>
              </a:rPr>
              <a:t>     Hybrid, free, browser-based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7C5CFF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Proposed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234440" cy="5029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481328"/>
            <a:ext cx="9509760" cy="10972"/>
          </a:xfrm>
          <a:prstGeom prst="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8E9AC8"/>
                </a:solidFill>
                <a:latin typeface="Calibri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783080"/>
            <a:ext cx="6903720" cy="4206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One web app, three services —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tutoring, summarization and assessment in a single interface.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Dual-engine AI —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Gemini API for deep reasoning, LaMini-Flan-T5 as an offline/lite fallback.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FastAPI core —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clean REST endpoints keep the UI and the AI layer independent.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Session memory —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learners can revisit earlier explanations and quiz results.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Graceful degradation —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if the cloud is unreachable, the local model keeps the tutor alive.</a:t>
            </a:r>
          </a:p>
          <a:p>
            <a:pPr>
              <a:lnSpc>
                <a:spcPct val="106000"/>
              </a:lnSpc>
              <a:spcAft>
                <a:spcPts val="1100"/>
              </a:spcAft>
            </a:pPr>
            <a:r>
              <a:rPr sz="160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Extensible design — </a:t>
            </a:r>
            <a:r>
              <a:rPr sz="1600" b="0" i="0">
                <a:solidFill>
                  <a:srgbClr val="CBD5F2"/>
                </a:solidFill>
                <a:latin typeface="Calibri"/>
              </a:rPr>
              <a:t>modular services make adding subjects and features straightforward.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9560" y="1783080"/>
            <a:ext cx="3566160" cy="420624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92608" rIns="274320" rtlCol="0" anchor="t"/>
          <a:lstStyle/>
          <a:p>
            <a:pPr algn="ctr">
              <a:spcAft>
                <a:spcPts val="14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REQUEST FLOW</a:t>
            </a:r>
          </a:p>
          <a:p>
            <a:pPr>
              <a:spcAft>
                <a:spcPts val="0"/>
              </a:spcAft>
            </a:pPr>
            <a:r>
              <a:rPr sz="1450" b="1" i="0">
                <a:solidFill>
                  <a:srgbClr val="22D3EE"/>
                </a:solidFill>
                <a:latin typeface="Calibri"/>
              </a:rPr>
              <a:t>Learner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8E9AC8"/>
                </a:solidFill>
                <a:latin typeface="Calibri"/>
              </a:rPr>
              <a:t>browser request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2C376E"/>
                </a:solidFill>
                <a:latin typeface="Calibri"/>
              </a:rPr>
              <a:t>↓</a:t>
            </a:r>
          </a:p>
          <a:p>
            <a:pPr>
              <a:spcAft>
                <a:spcPts val="0"/>
              </a:spcAft>
            </a:pPr>
            <a:r>
              <a:rPr sz="1450" b="1" i="0">
                <a:solidFill>
                  <a:srgbClr val="A86BFF"/>
                </a:solidFill>
                <a:latin typeface="Calibri"/>
              </a:rPr>
              <a:t>FastAPI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8E9AC8"/>
                </a:solidFill>
                <a:latin typeface="Calibri"/>
              </a:rPr>
              <a:t>routes &amp; services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2C376E"/>
                </a:solidFill>
                <a:latin typeface="Calibri"/>
              </a:rPr>
              <a:t>↓</a:t>
            </a:r>
          </a:p>
          <a:p>
            <a:pPr>
              <a:spcAft>
                <a:spcPts val="0"/>
              </a:spcAft>
            </a:pPr>
            <a:r>
              <a:rPr sz="1450" b="1" i="0">
                <a:solidFill>
                  <a:srgbClr val="7C5CFF"/>
                </a:solidFill>
                <a:latin typeface="Calibri"/>
              </a:rPr>
              <a:t>AI Router</a:t>
            </a:r>
          </a:p>
          <a:p>
            <a:pPr>
              <a:spcAft>
                <a:spcPts val="1000"/>
              </a:spcAft>
            </a:pPr>
            <a:r>
              <a:rPr sz="1150" b="0" i="0">
                <a:solidFill>
                  <a:srgbClr val="8E9AC8"/>
                </a:solidFill>
                <a:latin typeface="Calibri"/>
              </a:rPr>
              <a:t>picks best engine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2C376E"/>
                </a:solidFill>
                <a:latin typeface="Calibri"/>
              </a:rPr>
              <a:t>↓</a:t>
            </a:r>
          </a:p>
          <a:p>
            <a:pPr>
              <a:spcAft>
                <a:spcPts val="0"/>
              </a:spcAft>
            </a:pPr>
            <a:r>
              <a:rPr sz="1450" b="1" i="0">
                <a:solidFill>
                  <a:srgbClr val="4AE3C1"/>
                </a:solidFill>
                <a:latin typeface="Calibri"/>
              </a:rPr>
              <a:t>Response</a:t>
            </a:r>
          </a:p>
          <a:p>
            <a:pPr>
              <a:spcAft>
                <a:spcPts val="0"/>
              </a:spcAft>
            </a:pPr>
            <a:r>
              <a:rPr sz="1150" b="0" i="0">
                <a:solidFill>
                  <a:srgbClr val="8E9AC8"/>
                </a:solidFill>
                <a:latin typeface="Calibri"/>
              </a:rPr>
              <a:t>answer / quiz / summary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7C5CFF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234440" cy="5029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481328"/>
            <a:ext cx="9509760" cy="10972"/>
          </a:xfrm>
          <a:prstGeom prst="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8E9AC8"/>
                </a:solidFill>
                <a:latin typeface="Calibri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6858000" cy="841248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82296" cy="84124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1911095"/>
            <a:ext cx="6446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PRESENTATION LAYER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HTML • CSS – chat UI, quiz view, summary panel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788920"/>
            <a:ext cx="6858000" cy="841248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77240" y="2788920"/>
            <a:ext cx="82296" cy="841248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2916936"/>
            <a:ext cx="6446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APPLICATION LAYER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FastAPI – routing, session state, request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94760"/>
            <a:ext cx="6858000" cy="841248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77240" y="3794760"/>
            <a:ext cx="82296" cy="84124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51560" y="3922776"/>
            <a:ext cx="6446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AI ORCHESTRATION LAYER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prompt builder • engine router • response formatter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800600"/>
            <a:ext cx="6858000" cy="841248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4AE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77240" y="4800600"/>
            <a:ext cx="82296" cy="841248"/>
          </a:xfrm>
          <a:prstGeom prst="rect">
            <a:avLst/>
          </a:prstGeom>
          <a:solidFill>
            <a:srgbClr val="4A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4928616"/>
            <a:ext cx="644652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DATA &amp; KNOWLEDGE LAYER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subject notes • chat history • quiz bank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041648" y="2624328"/>
            <a:ext cx="329184" cy="164592"/>
          </a:xfrm>
          <a:prstGeom prst="downArrow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Down Arrow 22"/>
          <p:cNvSpPr/>
          <p:nvPr/>
        </p:nvSpPr>
        <p:spPr>
          <a:xfrm>
            <a:off x="4041648" y="3630168"/>
            <a:ext cx="329184" cy="164592"/>
          </a:xfrm>
          <a:prstGeom prst="downArrow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Down Arrow 23"/>
          <p:cNvSpPr/>
          <p:nvPr/>
        </p:nvSpPr>
        <p:spPr>
          <a:xfrm>
            <a:off x="4041648" y="4636008"/>
            <a:ext cx="329184" cy="164592"/>
          </a:xfrm>
          <a:prstGeom prst="downArrow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001000" y="1783080"/>
            <a:ext cx="3474720" cy="192024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37744" rIns="256032" rtlCol="0" anchor="t"/>
          <a:lstStyle/>
          <a:p>
            <a:pPr algn="ctr">
              <a:spcAft>
                <a:spcPts val="1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AI ENGINES</a:t>
            </a:r>
          </a:p>
          <a:p>
            <a:pPr>
              <a:spcAft>
                <a:spcPts val="100"/>
              </a:spcAft>
            </a:pPr>
            <a:r>
              <a:rPr sz="1200" b="1" i="0">
                <a:solidFill>
                  <a:srgbClr val="A86BFF"/>
                </a:solidFill>
                <a:latin typeface="Calibri"/>
              </a:rPr>
              <a:t>◆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Gemini API</a:t>
            </a:r>
          </a:p>
          <a:p>
            <a:pPr>
              <a:spcAft>
                <a:spcPts val="1100"/>
              </a:spcAft>
            </a:pPr>
            <a:r>
              <a:rPr sz="1100" b="0" i="0">
                <a:solidFill>
                  <a:srgbClr val="8E9AC8"/>
                </a:solidFill>
                <a:latin typeface="Calibri"/>
              </a:rPr>
              <a:t>     cloud reasoning engine</a:t>
            </a:r>
          </a:p>
          <a:p>
            <a:pPr>
              <a:spcAft>
                <a:spcPts val="1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◆  </a:t>
            </a:r>
            <a:r>
              <a:rPr sz="1350" b="1" i="0">
                <a:solidFill>
                  <a:srgbClr val="FFFFFF"/>
                </a:solidFill>
                <a:latin typeface="Calibri"/>
              </a:rPr>
              <a:t>LaMini-Flan-T5</a:t>
            </a:r>
          </a:p>
          <a:p>
            <a:pPr>
              <a:spcAft>
                <a:spcPts val="1100"/>
              </a:spcAft>
            </a:pPr>
            <a:r>
              <a:rPr sz="1100" b="0" i="0">
                <a:solidFill>
                  <a:srgbClr val="8E9AC8"/>
                </a:solidFill>
                <a:latin typeface="Calibri"/>
              </a:rPr>
              <a:t>     local lightweight fallback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01000" y="3858768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6032" tIns="237744" rIns="256032" rtlCol="0" anchor="t"/>
          <a:lstStyle/>
          <a:p>
            <a:pPr algn="ctr">
              <a:spcAft>
                <a:spcPts val="10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CLIENT DEVICES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4AE3C1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CBD5F2"/>
                </a:solidFill>
                <a:latin typeface="Calibri"/>
              </a:rPr>
              <a:t>Desktop / laptop browser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4AE3C1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CBD5F2"/>
                </a:solidFill>
                <a:latin typeface="Calibri"/>
              </a:rPr>
              <a:t>Mobile browser (responsive)</a:t>
            </a:r>
          </a:p>
          <a:p>
            <a:pPr>
              <a:spcAft>
                <a:spcPts val="700"/>
              </a:spcAft>
            </a:pPr>
            <a:r>
              <a:rPr sz="1200" b="1" i="0">
                <a:solidFill>
                  <a:srgbClr val="4AE3C1"/>
                </a:solidFill>
                <a:latin typeface="Calibri"/>
              </a:rPr>
              <a:t>✓  </a:t>
            </a:r>
            <a:r>
              <a:rPr sz="1200" b="0" i="0">
                <a:solidFill>
                  <a:srgbClr val="CBD5F2"/>
                </a:solidFill>
                <a:latin typeface="Calibri"/>
              </a:rPr>
              <a:t>Low-bandwidth friendly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779008"/>
            <a:ext cx="10698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Calibri"/>
              </a:rPr>
              <a:t>Flow: </a:t>
            </a:r>
            <a:r>
              <a:rPr sz="1200" b="0" i="0">
                <a:solidFill>
                  <a:srgbClr val="8E9AC8"/>
                </a:solidFill>
                <a:latin typeface="Calibri"/>
              </a:rPr>
              <a:t>browser → FastAPI → AI orchestration → Gemini / LaMini-Flan-T5 → formatted response back to the learner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7C5CFF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TOOLING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234440" cy="5029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481328"/>
            <a:ext cx="9509760" cy="10972"/>
          </a:xfrm>
          <a:prstGeom prst="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642823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0" i="0">
                <a:solidFill>
                  <a:srgbClr val="8E9AC8"/>
                </a:solidFill>
                <a:latin typeface="Calibri"/>
              </a:rPr>
              <a:t>EduGenie  |  AI-Powered Educational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8E9AC8"/>
                </a:solidFill>
                <a:latin typeface="Calibri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3474720" cy="1572768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51560" y="2057400"/>
            <a:ext cx="603504" cy="603504"/>
          </a:xfrm>
          <a:prstGeom prst="ellipse">
            <a:avLst/>
          </a:prstGeom>
          <a:solidFill>
            <a:srgbClr val="1C2555"/>
          </a:solidFill>
          <a:ln w="15875">
            <a:solidFill>
              <a:srgbClr val="4B8E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4B8EFC"/>
                </a:solidFill>
                <a:latin typeface="Calibri"/>
              </a:rPr>
              <a:t>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1368" y="205740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Python 3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Core language for all backend logic and AI glue code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783080"/>
            <a:ext cx="3474720" cy="1572768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617720" y="2057400"/>
            <a:ext cx="603504" cy="603504"/>
          </a:xfrm>
          <a:prstGeom prst="ellipse">
            <a:avLst/>
          </a:prstGeom>
          <a:solidFill>
            <a:srgbClr val="1C2555"/>
          </a:solidFill>
          <a:ln w="15875">
            <a:solidFill>
              <a:srgbClr val="4AE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4AE3C1"/>
                </a:solidFill>
                <a:latin typeface="Calibri"/>
              </a:rPr>
              <a:t>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205740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FastAPI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Async REST framework serving all AI endpoints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09560" y="1783080"/>
            <a:ext cx="3474720" cy="1572768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83880" y="2057400"/>
            <a:ext cx="603504" cy="603504"/>
          </a:xfrm>
          <a:prstGeom prst="ellipse">
            <a:avLst/>
          </a:prstGeom>
          <a:solidFill>
            <a:srgbClr val="1C2555"/>
          </a:solidFill>
          <a:ln w="15875">
            <a:solidFill>
              <a:srgbClr val="E8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E86B8A"/>
                </a:solidFill>
                <a:latin typeface="Calibri"/>
              </a:rPr>
              <a:t>&lt;&gt;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33688" y="205740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HTML5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Semantic structure of the learner interface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520440"/>
            <a:ext cx="3474720" cy="1572768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51560" y="3794760"/>
            <a:ext cx="603504" cy="603504"/>
          </a:xfrm>
          <a:prstGeom prst="ellipse">
            <a:avLst/>
          </a:prstGeom>
          <a:solidFill>
            <a:srgbClr val="1C2555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22D3EE"/>
                </a:solidFill>
                <a:latin typeface="Calibri"/>
              </a:rPr>
              <a:t>{}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1368" y="37947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CSS3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Modern responsive, blue/purple themed UI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520440"/>
            <a:ext cx="3474720" cy="1572768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617720" y="3794760"/>
            <a:ext cx="603504" cy="603504"/>
          </a:xfrm>
          <a:prstGeom prst="ellipse">
            <a:avLst/>
          </a:prstGeom>
          <a:solidFill>
            <a:srgbClr val="1C2555"/>
          </a:solidFill>
          <a:ln w="15875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A86BFF"/>
                </a:solidFill>
                <a:latin typeface="Calibri"/>
              </a:rPr>
              <a:t>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37947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Gemini API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Cloud LLM for high-quality reasoning and generation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3520440"/>
            <a:ext cx="3474720" cy="1572768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83880" y="3794760"/>
            <a:ext cx="603504" cy="603504"/>
          </a:xfrm>
          <a:prstGeom prst="ellipse">
            <a:avLst/>
          </a:prstGeom>
          <a:solidFill>
            <a:srgbClr val="1C2555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 i="0">
                <a:solidFill>
                  <a:srgbClr val="7C5CFF"/>
                </a:solidFill>
                <a:latin typeface="Calibri"/>
              </a:rPr>
              <a:t>La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33688" y="3794760"/>
            <a:ext cx="2286000" cy="1051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LaMini-Flan-T5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Compact local model for offline summaries and fallback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285232"/>
            <a:ext cx="10607040" cy="914400"/>
          </a:xfrm>
          <a:prstGeom prst="roundRect">
            <a:avLst>
              <a:gd name="adj" fmla="val 6000"/>
            </a:avLst>
          </a:prstGeom>
          <a:solidFill>
            <a:srgbClr val="1C2555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ctr"/>
            <a:r>
              <a:rPr sz="1400" b="1" i="0">
                <a:solidFill>
                  <a:srgbClr val="22D3EE"/>
                </a:solidFill>
                <a:latin typeface="Calibri"/>
              </a:rPr>
              <a:t>Why this stack: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Python + FastAPI give fast async inference endpoints and automatic API docs; HTML/CSS keeps the client dependency-free; the Gemini → LaMini-Flan-T5 pairing balances answer quality with cost and offline resilience.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7C5CFF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Modules &amp;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234440" cy="5029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481328"/>
            <a:ext cx="9509760" cy="10972"/>
          </a:xfrm>
          <a:prstGeom prst="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8E9AC8"/>
                </a:solidFill>
                <a:latin typeface="Calibri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3474720" cy="1627632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77240" y="1783080"/>
            <a:ext cx="347472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51560" y="2075688"/>
            <a:ext cx="585216" cy="585216"/>
          </a:xfrm>
          <a:prstGeom prst="ellipse">
            <a:avLst/>
          </a:prstGeom>
          <a:solidFill>
            <a:srgbClr val="1C2555"/>
          </a:solidFill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22D3EE"/>
                </a:solidFill>
                <a:latin typeface="Calibri"/>
              </a:rPr>
              <a:t>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2112264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Doubt Solver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Ask any academic question and get a clear, step-wise AI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1783080"/>
            <a:ext cx="3474720" cy="1627632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43400" y="1783080"/>
            <a:ext cx="3474720" cy="64008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617720" y="2075688"/>
            <a:ext cx="585216" cy="585216"/>
          </a:xfrm>
          <a:prstGeom prst="ellipse">
            <a:avLst/>
          </a:prstGeom>
          <a:solidFill>
            <a:srgbClr val="1C2555"/>
          </a:solidFill>
          <a:ln w="15875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A86BFF"/>
                </a:solidFill>
                <a:latin typeface="Calibri"/>
              </a:rPr>
              <a:t>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112264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Smart Summarizer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Condense notes, articles or chapters into exam-ready points.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783080"/>
            <a:ext cx="3474720" cy="1627632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09560" y="1783080"/>
            <a:ext cx="3474720" cy="64008"/>
          </a:xfrm>
          <a:prstGeom prst="rect">
            <a:avLst/>
          </a:prstGeom>
          <a:solidFill>
            <a:srgbClr val="4A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83880" y="2075688"/>
            <a:ext cx="585216" cy="585216"/>
          </a:xfrm>
          <a:prstGeom prst="ellipse">
            <a:avLst/>
          </a:prstGeom>
          <a:solidFill>
            <a:srgbClr val="1C2555"/>
          </a:solidFill>
          <a:ln w="15875">
            <a:solidFill>
              <a:srgbClr val="4AE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4AE3C1"/>
                </a:solidFill>
                <a:latin typeface="Calibri"/>
              </a:rPr>
              <a:t>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112264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Quiz Generator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Auto-build MCQs from a topic with instant scoring and feedback.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584448"/>
            <a:ext cx="3474720" cy="1627632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3584448"/>
            <a:ext cx="3474720" cy="64008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51560" y="3877056"/>
            <a:ext cx="585216" cy="585216"/>
          </a:xfrm>
          <a:prstGeom prst="ellipse">
            <a:avLst/>
          </a:prstGeom>
          <a:solidFill>
            <a:srgbClr val="1C2555"/>
          </a:solidFill>
          <a:ln w="15875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7C5CFF"/>
                </a:solidFill>
                <a:latin typeface="Calibri"/>
              </a:rPr>
              <a:t>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3913632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Concept Explainer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Re-explain a topic in simpler language, with examples.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3584448"/>
            <a:ext cx="3474720" cy="1627632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43400" y="3584448"/>
            <a:ext cx="3474720" cy="64008"/>
          </a:xfrm>
          <a:prstGeom prst="rect">
            <a:avLst/>
          </a:prstGeom>
          <a:solidFill>
            <a:srgbClr val="4B8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617720" y="3877056"/>
            <a:ext cx="585216" cy="585216"/>
          </a:xfrm>
          <a:prstGeom prst="ellipse">
            <a:avLst/>
          </a:prstGeom>
          <a:solidFill>
            <a:srgbClr val="1C2555"/>
          </a:solidFill>
          <a:ln w="15875">
            <a:solidFill>
              <a:srgbClr val="4B8E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4B8EFC"/>
                </a:solidFill>
                <a:latin typeface="Calibri"/>
              </a:rPr>
              <a:t>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3913632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Study History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Revisit past answers, summaries and quiz attempts in one place.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09560" y="3584448"/>
            <a:ext cx="3474720" cy="1627632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909560" y="3584448"/>
            <a:ext cx="3474720" cy="64008"/>
          </a:xfrm>
          <a:prstGeom prst="rect">
            <a:avLst/>
          </a:prstGeom>
          <a:solidFill>
            <a:srgbClr val="E8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183880" y="3877056"/>
            <a:ext cx="585216" cy="585216"/>
          </a:xfrm>
          <a:prstGeom prst="ellipse">
            <a:avLst/>
          </a:prstGeom>
          <a:solidFill>
            <a:srgbClr val="1C2555"/>
          </a:solidFill>
          <a:ln w="15875">
            <a:solidFill>
              <a:srgbClr val="E86B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1" i="0">
                <a:solidFill>
                  <a:srgbClr val="E86B8A"/>
                </a:solidFill>
                <a:latin typeface="Calibri"/>
              </a:rPr>
              <a:t>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3913632"/>
            <a:ext cx="2331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Subject Manager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Add subjects and notes so the tutor stays curriculum-aware.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413248"/>
            <a:ext cx="10607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50" b="0" i="0">
                <a:solidFill>
                  <a:srgbClr val="CBD5F2"/>
                </a:solidFill>
                <a:latin typeface="Calibri"/>
              </a:rPr>
              <a:t>All six modules share one design language and a single AI layer — so a new capability is added without rewriting the interface.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7C5CFF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Interface &amp; Key Endpoints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234440" cy="5029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481328"/>
            <a:ext cx="9509760" cy="10972"/>
          </a:xfrm>
          <a:prstGeom prst="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8E9AC8"/>
                </a:solidFill>
                <a:latin typeface="Calibri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943600" cy="4114800"/>
          </a:xfrm>
          <a:prstGeom prst="roundRect">
            <a:avLst>
              <a:gd name="adj" fmla="val 6000"/>
            </a:avLst>
          </a:prstGeom>
          <a:solidFill>
            <a:srgbClr val="101635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0" y="1783080"/>
            <a:ext cx="5943600" cy="384048"/>
          </a:xfrm>
          <a:prstGeom prst="roundRect">
            <a:avLst/>
          </a:prstGeom>
          <a:solidFill>
            <a:srgbClr val="1C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77240" y="2039112"/>
            <a:ext cx="5943600" cy="128016"/>
          </a:xfrm>
          <a:prstGeom prst="rect">
            <a:avLst/>
          </a:prstGeom>
          <a:solidFill>
            <a:srgbClr val="1C2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960120" y="1911095"/>
            <a:ext cx="118872" cy="118872"/>
          </a:xfrm>
          <a:prstGeom prst="ellipse">
            <a:avLst/>
          </a:prstGeom>
          <a:solidFill>
            <a:srgbClr val="E86B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61288" y="1911095"/>
            <a:ext cx="118872" cy="118872"/>
          </a:xfrm>
          <a:prstGeom prst="ellipse">
            <a:avLst/>
          </a:prstGeom>
          <a:solidFill>
            <a:srgbClr val="F7C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362456" y="1911095"/>
            <a:ext cx="118872" cy="118872"/>
          </a:xfrm>
          <a:prstGeom prst="ellipse">
            <a:avLst/>
          </a:prstGeom>
          <a:solidFill>
            <a:srgbClr val="4AE3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91640" y="1874519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50" b="0" i="0">
                <a:solidFill>
                  <a:srgbClr val="8E9AC8"/>
                </a:solidFill>
                <a:latin typeface="Calibri"/>
              </a:rPr>
              <a:t>edugenie.app  –  Ask a question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91840" y="2441448"/>
            <a:ext cx="3063240" cy="566928"/>
          </a:xfrm>
          <a:prstGeom prst="roundRect">
            <a:avLst>
              <a:gd name="adj" fmla="val 22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46304" rtlCol="0" anchor="ctr"/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Explain Newton's third law simply.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154680"/>
            <a:ext cx="4160520" cy="1371600"/>
          </a:xfrm>
          <a:prstGeom prst="roundRect">
            <a:avLst>
              <a:gd name="adj" fmla="val 14000"/>
            </a:avLst>
          </a:prstGeom>
          <a:solidFill>
            <a:srgbClr val="1C2555"/>
          </a:solidFill>
          <a:ln w="9525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t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2D3EE"/>
                </a:solidFill>
                <a:latin typeface="Calibri"/>
              </a:rPr>
              <a:t>EduGenie</a:t>
            </a:r>
          </a:p>
          <a:p>
            <a:r>
              <a:rPr sz="1150" b="0" i="0">
                <a:solidFill>
                  <a:srgbClr val="CBD5F2"/>
                </a:solidFill>
                <a:latin typeface="Calibri"/>
              </a:rPr>
              <a:t>For every action there is an equal and opposite reaction. Push a wall; it pushes back with the same force. That is why a rocket moves up – it pushes gas down.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51560" y="4754880"/>
            <a:ext cx="5394960" cy="566928"/>
          </a:xfrm>
          <a:prstGeom prst="roundRect">
            <a:avLst>
              <a:gd name="adj" fmla="val 30000"/>
            </a:avLst>
          </a:prstGeom>
          <a:solidFill>
            <a:srgbClr val="161E47"/>
          </a:solidFill>
          <a:ln w="9525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rtlCol="0" anchor="ctr"/>
          <a:lstStyle/>
          <a:p>
            <a:pPr algn="ctr"/>
            <a:r>
              <a:rPr sz="1150" b="0" i="0">
                <a:solidFill>
                  <a:srgbClr val="8E9AC8"/>
                </a:solidFill>
                <a:latin typeface="Calibri"/>
              </a:rPr>
              <a:t>Type your question…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33288" y="4828032"/>
            <a:ext cx="932688" cy="420624"/>
          </a:xfrm>
          <a:prstGeom prst="roundRect">
            <a:avLst>
              <a:gd name="adj" fmla="val 30000"/>
            </a:avLst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5458968"/>
            <a:ext cx="1097280" cy="329184"/>
          </a:xfrm>
          <a:prstGeom prst="roundRect">
            <a:avLst>
              <a:gd name="adj" fmla="val 35000"/>
            </a:avLst>
          </a:prstGeom>
          <a:solidFill>
            <a:srgbClr val="161E47"/>
          </a:solidFill>
          <a:ln w="9525">
            <a:solidFill>
              <a:srgbClr val="4AE3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i="0">
                <a:solidFill>
                  <a:srgbClr val="4AE3C1"/>
                </a:solidFill>
                <a:latin typeface="Calibri"/>
              </a:rPr>
              <a:t>/quiz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86000" y="5458968"/>
            <a:ext cx="1097280" cy="329184"/>
          </a:xfrm>
          <a:prstGeom prst="roundRect">
            <a:avLst>
              <a:gd name="adj" fmla="val 35000"/>
            </a:avLst>
          </a:prstGeom>
          <a:solidFill>
            <a:srgbClr val="161E47"/>
          </a:solidFill>
          <a:ln w="9525">
            <a:solidFill>
              <a:srgbClr val="A86B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i="0">
                <a:solidFill>
                  <a:srgbClr val="A86BFF"/>
                </a:solidFill>
                <a:latin typeface="Calibri"/>
              </a:rPr>
              <a:t>/summary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20440" y="5458968"/>
            <a:ext cx="1097280" cy="329184"/>
          </a:xfrm>
          <a:prstGeom prst="roundRect">
            <a:avLst>
              <a:gd name="adj" fmla="val 35000"/>
            </a:avLst>
          </a:prstGeom>
          <a:solidFill>
            <a:srgbClr val="161E47"/>
          </a:solidFill>
          <a:ln w="952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i="0">
                <a:solidFill>
                  <a:srgbClr val="22D3EE"/>
                </a:solidFill>
                <a:latin typeface="Calibri"/>
              </a:rPr>
              <a:t>/explain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22592" y="1783080"/>
            <a:ext cx="4434840" cy="4114800"/>
          </a:xfrm>
          <a:prstGeom prst="roundRect">
            <a:avLst>
              <a:gd name="adj" fmla="val 6000"/>
            </a:avLst>
          </a:prstGeom>
          <a:solidFill>
            <a:srgbClr val="0D122E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37744" tIns="237744" rIns="201168" rtlCol="0" anchor="t"/>
          <a:lstStyle/>
          <a:p>
            <a:pPr algn="ctr">
              <a:spcAft>
                <a:spcPts val="1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MAIN ENDPOINTS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A86BFF"/>
                </a:solidFill>
                <a:latin typeface="Consolas"/>
              </a:rPr>
              <a:t>@app.post("/ask")</a:t>
            </a:r>
          </a:p>
          <a:p>
            <a:pPr>
              <a:spcAft>
                <a:spcPts val="1100"/>
              </a:spcAft>
            </a:pPr>
            <a:r>
              <a:rPr sz="1050" b="0" i="0">
                <a:solidFill>
                  <a:srgbClr val="8E9AC8"/>
                </a:solidFill>
                <a:latin typeface="Consolas"/>
              </a:rPr>
              <a:t>     # question → AI answer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4AE3C1"/>
                </a:solidFill>
                <a:latin typeface="Consolas"/>
              </a:rPr>
              <a:t>@app.post("/summary")</a:t>
            </a:r>
          </a:p>
          <a:p>
            <a:pPr>
              <a:spcAft>
                <a:spcPts val="1100"/>
              </a:spcAft>
            </a:pPr>
            <a:r>
              <a:rPr sz="1050" b="0" i="0">
                <a:solidFill>
                  <a:srgbClr val="8E9AC8"/>
                </a:solidFill>
                <a:latin typeface="Consolas"/>
              </a:rPr>
              <a:t>     # text → key points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D3EE"/>
                </a:solidFill>
                <a:latin typeface="Consolas"/>
              </a:rPr>
              <a:t>@app.post("/quiz")</a:t>
            </a:r>
          </a:p>
          <a:p>
            <a:pPr>
              <a:spcAft>
                <a:spcPts val="1100"/>
              </a:spcAft>
            </a:pPr>
            <a:r>
              <a:rPr sz="1050" b="0" i="0">
                <a:solidFill>
                  <a:srgbClr val="8E9AC8"/>
                </a:solidFill>
                <a:latin typeface="Consolas"/>
              </a:rPr>
              <a:t>     # topic → MCQ set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7C5CFF"/>
                </a:solidFill>
                <a:latin typeface="Consolas"/>
              </a:rPr>
              <a:t>@app.get("/history")</a:t>
            </a:r>
          </a:p>
          <a:p>
            <a:pPr>
              <a:spcAft>
                <a:spcPts val="1100"/>
              </a:spcAft>
            </a:pPr>
            <a:r>
              <a:rPr sz="1050" b="0" i="0">
                <a:solidFill>
                  <a:srgbClr val="8E9AC8"/>
                </a:solidFill>
                <a:latin typeface="Consolas"/>
              </a:rPr>
              <a:t>     # past interactions</a:t>
            </a:r>
          </a:p>
          <a:p>
            <a:pPr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Engine switch</a:t>
            </a:r>
          </a:p>
          <a:p>
            <a:r>
              <a:rPr sz="1100" b="0" i="0">
                <a:solidFill>
                  <a:srgbClr val="8E9AC8"/>
                </a:solidFill>
                <a:latin typeface="Calibri"/>
              </a:rPr>
              <a:t>Gemini API is called first; on failure the request falls back to LaMini-Flan-T5, so the learner always gets a response.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7C5CFF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Results &amp; Advantages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234440" cy="5029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481328"/>
            <a:ext cx="9509760" cy="10972"/>
          </a:xfrm>
          <a:prstGeom prst="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8E9AC8"/>
                </a:solidFill>
                <a:latin typeface="Calibri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182880" rtlCol="0" anchor="ctr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22D3EE"/>
                </a:solidFill>
                <a:latin typeface="Calibri"/>
              </a:rPr>
              <a:t>~1–2 s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typical response time on a standard connection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47872" y="178308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182880" rtlCol="0" anchor="ctr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4AE3C1"/>
                </a:solidFill>
                <a:latin typeface="Calibri"/>
              </a:rPr>
              <a:t>24 / 7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availability, independent of class hours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18504" y="178308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182880" rtlCol="0" anchor="ctr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A86BFF"/>
                </a:solidFill>
                <a:latin typeface="Calibri"/>
              </a:rPr>
              <a:t>2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AI engines with automatic failover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89136" y="1783080"/>
            <a:ext cx="2587752" cy="141732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9456" rIns="182880" rtlCol="0" anchor="ctr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7C5CFF"/>
                </a:solidFill>
                <a:latin typeface="Calibri"/>
              </a:rPr>
              <a:t>4 GB</a:t>
            </a:r>
          </a:p>
          <a:p>
            <a:r>
              <a:rPr sz="1150" b="0" i="0">
                <a:solidFill>
                  <a:srgbClr val="8E9AC8"/>
                </a:solidFill>
                <a:latin typeface="Calibri"/>
              </a:rPr>
              <a:t>RAM sufficient for the local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 i="1">
                <a:solidFill>
                  <a:srgbClr val="8E9AC8"/>
                </a:solidFill>
                <a:latin typeface="Calibri"/>
              </a:rPr>
              <a:t>Design targets verified during prototype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31920"/>
            <a:ext cx="512064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D5F2"/>
                </a:solidFill>
                <a:latin typeface="Calibri"/>
              </a:rPr>
              <a:t>Cost advantage — free for the learner, no subscription or server farm needed.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D5F2"/>
                </a:solidFill>
                <a:latin typeface="Calibri"/>
              </a:rPr>
              <a:t>Accessibility — runs in any modern browser, including low-end laptops and phones.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D5F2"/>
                </a:solidFill>
                <a:latin typeface="Calibri"/>
              </a:rPr>
              <a:t>Resilience — the local model keeps the tutor working when the cloud is unavailable.</a:t>
            </a:r>
          </a:p>
          <a:p>
            <a:pPr>
              <a:lnSpc>
                <a:spcPct val="106000"/>
              </a:lnSpc>
              <a:spcAft>
                <a:spcPts val="1000"/>
              </a:spcAft>
            </a:pPr>
            <a:r>
              <a:rPr sz="1450" b="1" i="0">
                <a:solidFill>
                  <a:srgbClr val="22D3EE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D5F2"/>
                </a:solidFill>
                <a:latin typeface="Calibri"/>
              </a:rPr>
              <a:t>Pedagogy — explanation, practice and feedback in one loop improve retention.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931920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1C2555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37744" rIns="274320" rtlCol="0" anchor="t"/>
          <a:lstStyle/>
          <a:p>
            <a:pPr algn="ctr">
              <a:spcAft>
                <a:spcPts val="1200"/>
              </a:spcAft>
            </a:pPr>
            <a:r>
              <a:rPr sz="1200" b="1" i="0">
                <a:solidFill>
                  <a:srgbClr val="22D3EE"/>
                </a:solidFill>
                <a:latin typeface="Calibri"/>
              </a:rPr>
              <a:t>IMPACT FOR LEARNERS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4AE3C1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Doubt cleared in seconds, not days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4AE3C1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Better exam readiness through instant practice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4AE3C1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More consistent self-study habits</a:t>
            </a:r>
          </a:p>
          <a:p>
            <a:pPr>
              <a:spcAft>
                <a:spcPts val="900"/>
              </a:spcAft>
            </a:pPr>
            <a:r>
              <a:rPr sz="1300" b="1" i="0">
                <a:solidFill>
                  <a:srgbClr val="4AE3C1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Confidence in subjects previously avoided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A0F26"/>
              </a:gs>
              <a:gs pos="100000">
                <a:srgbClr val="141B40"/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gradFill rotWithShape="1">
            <a:gsLst>
              <a:gs pos="0">
                <a:srgbClr val="7C5CFF"/>
              </a:gs>
              <a:gs pos="100000">
                <a:srgbClr val="22D3E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9601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58368"/>
            <a:ext cx="1088136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Future Scope &amp;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481328"/>
            <a:ext cx="1234440" cy="50292"/>
          </a:xfrm>
          <a:prstGeom prst="rect">
            <a:avLst/>
          </a:prstGeom>
          <a:solidFill>
            <a:srgbClr val="A8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965960" y="1481328"/>
            <a:ext cx="9509760" cy="10972"/>
          </a:xfrm>
          <a:prstGeom prst="rect">
            <a:avLst/>
          </a:prstGeom>
          <a:solidFill>
            <a:srgbClr val="2C37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064240" y="6428232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 i="0">
                <a:solidFill>
                  <a:srgbClr val="8E9AC8"/>
                </a:solidFill>
                <a:latin typeface="Calibri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783080"/>
            <a:ext cx="5577840" cy="4114800"/>
          </a:xfrm>
          <a:prstGeom prst="roundRect">
            <a:avLst>
              <a:gd name="adj" fmla="val 6000"/>
            </a:avLst>
          </a:prstGeom>
          <a:solidFill>
            <a:srgbClr val="161E47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274320" rIns="274320" rtlCol="0" anchor="t"/>
          <a:lstStyle/>
          <a:p>
            <a:pPr algn="ctr">
              <a:spcAft>
                <a:spcPts val="1400"/>
              </a:spcAft>
            </a:pPr>
            <a:r>
              <a:rPr sz="1250" b="1" i="0">
                <a:solidFill>
                  <a:srgbClr val="22D3EE"/>
                </a:solidFill>
                <a:latin typeface="Calibri"/>
              </a:rPr>
              <a:t>FUTURE SCOPE</a:t>
            </a:r>
          </a:p>
          <a:p>
            <a:pPr>
              <a:spcAft>
                <a:spcPts val="1300"/>
              </a:spcAft>
            </a:pPr>
            <a:r>
              <a:rPr sz="140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D5F2"/>
                </a:solidFill>
                <a:latin typeface="Calibri"/>
              </a:rPr>
              <a:t>Regional-language and Hindi support</a:t>
            </a:r>
          </a:p>
          <a:p>
            <a:pPr>
              <a:spcAft>
                <a:spcPts val="1300"/>
              </a:spcAft>
            </a:pPr>
            <a:r>
              <a:rPr sz="140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D5F2"/>
                </a:solidFill>
                <a:latin typeface="Calibri"/>
              </a:rPr>
              <a:t>Voice input and spoken answers</a:t>
            </a:r>
          </a:p>
          <a:p>
            <a:pPr>
              <a:spcAft>
                <a:spcPts val="1300"/>
              </a:spcAft>
            </a:pPr>
            <a:r>
              <a:rPr sz="140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D5F2"/>
                </a:solidFill>
                <a:latin typeface="Calibri"/>
              </a:rPr>
              <a:t>RAG over college syllabus PDFs</a:t>
            </a:r>
          </a:p>
          <a:p>
            <a:pPr>
              <a:spcAft>
                <a:spcPts val="1300"/>
              </a:spcAft>
            </a:pPr>
            <a:r>
              <a:rPr sz="140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D5F2"/>
                </a:solidFill>
                <a:latin typeface="Calibri"/>
              </a:rPr>
              <a:t>Personalized learning paths &amp; analytics</a:t>
            </a:r>
          </a:p>
          <a:p>
            <a:pPr>
              <a:spcAft>
                <a:spcPts val="1300"/>
              </a:spcAft>
            </a:pPr>
            <a:r>
              <a:rPr sz="140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D5F2"/>
                </a:solidFill>
                <a:latin typeface="Calibri"/>
              </a:rPr>
              <a:t>Mobile app (Flutter) and offline packs</a:t>
            </a:r>
          </a:p>
          <a:p>
            <a:pPr>
              <a:spcAft>
                <a:spcPts val="1300"/>
              </a:spcAft>
            </a:pPr>
            <a:r>
              <a:rPr sz="1400" b="1" i="0">
                <a:solidFill>
                  <a:srgbClr val="A86BFF"/>
                </a:solidFill>
                <a:latin typeface="Calibri"/>
              </a:rPr>
              <a:t>▸  </a:t>
            </a:r>
            <a:r>
              <a:rPr sz="1450" b="0" i="0">
                <a:solidFill>
                  <a:srgbClr val="CBD5F2"/>
                </a:solidFill>
                <a:latin typeface="Calibri"/>
              </a:rPr>
              <a:t>Teacher dashboard for class-wide insights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56832" y="1783080"/>
            <a:ext cx="4800600" cy="4114800"/>
          </a:xfrm>
          <a:prstGeom prst="roundRect">
            <a:avLst>
              <a:gd name="adj" fmla="val 6000"/>
            </a:avLst>
          </a:prstGeom>
          <a:solidFill>
            <a:srgbClr val="1C2555"/>
          </a:solidFill>
          <a:ln w="12700">
            <a:solidFill>
              <a:srgbClr val="2C37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92608" tIns="274320" rIns="274320" rtlCol="0" anchor="t"/>
          <a:lstStyle/>
          <a:p>
            <a:pPr algn="ctr">
              <a:spcAft>
                <a:spcPts val="1400"/>
              </a:spcAft>
            </a:pPr>
            <a:r>
              <a:rPr sz="1250" b="1" i="0">
                <a:solidFill>
                  <a:srgbClr val="4AE3C1"/>
                </a:solidFill>
                <a:latin typeface="Calibri"/>
              </a:rPr>
              <a:t>CONCLUSION</a:t>
            </a:r>
          </a:p>
          <a:p>
            <a:pPr>
              <a:spcAft>
                <a:spcPts val="1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EduGenie demonstrates that a capable AI tutor does not require expensive infrastructure.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A hybrid cloud + local design keeps answers high-quality and affordable.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Five core learning services are delivered through one simple web interface.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Accessibility and resilience were treated as first-class requirements.</a:t>
            </a:r>
          </a:p>
          <a:p>
            <a:pPr>
              <a:spcAft>
                <a:spcPts val="1000"/>
              </a:spcAft>
            </a:pPr>
            <a:r>
              <a:rPr sz="1300" b="1" i="0">
                <a:solidFill>
                  <a:srgbClr val="22D3EE"/>
                </a:solidFill>
                <a:latin typeface="Calibri"/>
              </a:rPr>
              <a:t>→  </a:t>
            </a:r>
            <a:r>
              <a:rPr sz="1350" b="0" i="0">
                <a:solidFill>
                  <a:srgbClr val="CBD5F2"/>
                </a:solidFill>
                <a:latin typeface="Calibri"/>
              </a:rPr>
              <a:t>The modular architecture is a strong base for a full smart-classroom platform.</a:t>
            </a:r>
          </a:p>
          <a:p>
            <a:pPr>
              <a:spcBef>
                <a:spcPts val="800"/>
              </a:spcBef>
            </a:pPr>
            <a:r>
              <a:rPr sz="1350" b="1" i="0">
                <a:solidFill>
                  <a:srgbClr val="A86BFF"/>
                </a:solidFill>
                <a:latin typeface="Calibri"/>
              </a:rPr>
              <a:t>Thank you  —  questions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1410</Words>
  <Application>Microsoft Office PowerPoint</Application>
  <PresentationFormat>Widescreen</PresentationFormat>
  <Paragraphs>226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Nasar hussain K A</cp:lastModifiedBy>
  <cp:revision>3</cp:revision>
  <dcterms:created xsi:type="dcterms:W3CDTF">2013-01-27T09:14:16Z</dcterms:created>
  <dcterms:modified xsi:type="dcterms:W3CDTF">2026-09-22T14:28:31Z</dcterms:modified>
  <cp:category/>
</cp:coreProperties>
</file>